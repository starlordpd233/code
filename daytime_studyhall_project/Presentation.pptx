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038B3-1B61-454D-A404-857AFECD24C9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1B879-8FC9-E14D-B11C-7137E668C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0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1B879-8FC9-E14D-B11C-7137E668C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96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25928-2F04-92AD-927A-BF9EC7BC1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447ED-AF3B-558C-B573-70AD053FB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FC587-5708-B954-98CA-C4B24CF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57FD8-0DB6-CBD9-354C-73161248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648FB-1169-00CB-6FA8-7C4E5748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97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B155-AA1A-7235-26DD-9BD36C6A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5F83-F137-4E09-AE71-D1C09880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CB3DB-0AB6-F8CC-37BD-B12F9F02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56567-DC81-6095-954A-F9CEECE5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9CD73-D524-928F-6064-5ACADCAF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3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109A-8D86-9AFE-C47E-C00842F6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63FF-D678-4E0E-A04E-3B011F1A5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25749-E24F-D25F-5AF7-CEB3E7CE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13428-EE06-2FF8-0CFC-B159B738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7909B-1AF4-DC26-6417-3DE22F52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8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EE2A-46F5-8EBF-F0DB-223CD4F1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1C031-FEE2-2EB8-B000-D28AAEE45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14528-CE5C-6219-2C6D-1C50C5628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1E750-4C38-01CD-9CC6-E6687919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D851B-44FC-C357-4041-11E49889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3F976-F9F3-417B-BAC5-BD42FB0F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6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A873-AE77-E0D1-EFF4-E899D08A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99124-D4D9-7291-8026-CE9A9520F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62D76-BBE0-1158-4B00-BAE503ECE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29D1E-4C45-38D4-7131-E14ABABB95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6890F-99EB-4BE0-20F2-AFA6774CB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F52FA-EFDB-E2F8-DE20-D4B5CC24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EE4A7-18BB-66AC-91C3-55CCBF84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F584E-85FF-538E-1A88-73F5BCF2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7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9DBC-F05F-C19D-41D5-2D1EDB0B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117A9-5730-5237-A811-3D0D38E3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1E241-A80A-E583-DDB9-BE9ADCEE4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9A967-213A-DFE4-1621-DE7F659F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32080-0DB5-D032-C626-DF9BAB4B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92AB5-8FB7-B494-1EE8-9654BFBB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DC7B6-A096-265F-79B5-D90C382C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8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C200-B44D-E774-F3DE-2DB1EAEFA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1C0E3-DF2C-C3B3-D3CD-B476D9B11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D8AF7-5676-FB5F-B16A-527524AAF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CDBE6-0E3C-BB70-5135-DFD1B9EC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9D2E2-A3A8-4783-A545-EDCCB2AB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F3089-F2CA-47BE-CC8C-210B06DC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18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EE37-CA11-121B-6DBD-E59F688E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7D6F4-E526-6FA3-1696-C9177D1F3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02A29-2812-B2F1-0C42-4EFBC5CD9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7B9F7-9775-DF8F-36F4-077AFBF7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9792-2B24-8F23-D078-0B630AE4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98E75-1FA0-2CE9-8F7F-1122E7F1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2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89AE-DCFB-2E55-B199-0A039739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B5E3-EF23-11BB-286F-05586318A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25C8-6981-5F8F-85DB-86B34D50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D0B06-EC01-9386-A3E7-33E7F85F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D4F27-43DD-F555-FA97-29019320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6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A801A-999D-B863-3835-FCE60F1E8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BBD38-0B01-8D6E-A9E6-18CE69488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1A2F-6BA1-5A60-EC3B-FB307EA1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ED4E8-507C-0C0E-DA10-D91D4DE6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C3924-2239-B389-B200-1B33243D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9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16B5D-8206-67D2-A0FA-E9554EAE6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0A246-4AC8-7F6B-84D9-EF074A1A1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AD0D5-629A-BD74-D858-FF5AE93A5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47F4E-A769-9749-A161-CD5E545C830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376B-52FF-DDB7-E8F3-ED76CE337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8AF46-9F2B-01C7-D00C-DFEC7775C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B8862-51AC-D848-8ACB-B36B0CF13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0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31BB-414C-E5D3-D71E-F99EDA548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Study Hall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146C95-20CC-63C3-8904-F493270D5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BAC1-DDC7-A139-15AA-BE7007AD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Success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9E802-5D86-3385-E588-58640BA8E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grader gets 2 </a:t>
            </a:r>
            <a:r>
              <a:rPr lang="en-US" dirty="0" err="1"/>
              <a:t>sh</a:t>
            </a:r>
            <a:r>
              <a:rPr lang="en-US" dirty="0"/>
              <a:t>, 10</a:t>
            </a:r>
            <a:r>
              <a:rPr lang="en-US" baseline="30000" dirty="0"/>
              <a:t>th</a:t>
            </a:r>
            <a:r>
              <a:rPr lang="en-US" dirty="0"/>
              <a:t> 1</a:t>
            </a:r>
          </a:p>
          <a:p>
            <a:r>
              <a:rPr lang="en-US" dirty="0"/>
              <a:t>No section exceeds capacity nor underfilled</a:t>
            </a:r>
          </a:p>
          <a:p>
            <a:r>
              <a:rPr lang="en-US" dirty="0"/>
              <a:t>Spacing rules are respected unless explicitly relaxed (and documented)</a:t>
            </a:r>
          </a:p>
        </p:txBody>
      </p:sp>
    </p:spTree>
    <p:extLst>
      <p:ext uri="{BB962C8B-B14F-4D97-AF65-F5344CB8AC3E}">
        <p14:creationId xmlns:p14="http://schemas.microsoft.com/office/powerpoint/2010/main" val="3824862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74E9-4807-DEFE-1AAE-77D70AE6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 and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35F4-4F43-CCB3-5667-D1DC3094F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Represents a `block` object with “D[X]B[X]”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`</a:t>
            </a:r>
            <a:r>
              <a:rPr lang="en-US" dirty="0" err="1"/>
              <a:t>get_distance</a:t>
            </a:r>
            <a:r>
              <a:rPr lang="en-US" dirty="0"/>
              <a:t>()` that returns distance in days</a:t>
            </a:r>
          </a:p>
          <a:p>
            <a:r>
              <a:rPr lang="en-US" dirty="0"/>
              <a:t>Student: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self.id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self.free_blocks</a:t>
            </a:r>
            <a:r>
              <a:rPr lang="en-US" dirty="0"/>
              <a:t> = set()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self.availability</a:t>
            </a:r>
            <a:r>
              <a:rPr lang="en-US" dirty="0"/>
              <a:t> = [] (ordered)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self.scheduled_sh</a:t>
            </a:r>
            <a:r>
              <a:rPr lang="en-US" dirty="0"/>
              <a:t> = []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`</a:t>
            </a:r>
            <a:r>
              <a:rPr lang="en-US" dirty="0" err="1"/>
              <a:t>set_availability</a:t>
            </a:r>
            <a:r>
              <a:rPr lang="en-US" dirty="0"/>
              <a:t>()`; takes in sorted, ordered study hall sections data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8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DBEE3-499D-B023-D54C-47308BDF2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Variables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91B20-2F52-BADB-6BF9-D6C63CB13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700" dirty="0"/>
              <a:t>Internal variables holding data: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/>
              <a:t>_</a:t>
            </a:r>
            <a:r>
              <a:rPr lang="en-US" sz="1700" dirty="0" err="1"/>
              <a:t>block_schedule</a:t>
            </a:r>
            <a:r>
              <a:rPr lang="en-US" sz="1700" dirty="0"/>
              <a:t> = [list of 28 blocks]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/>
              <a:t>_students = [list of student objects]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/>
              <a:t>_</a:t>
            </a:r>
            <a:r>
              <a:rPr lang="en-US" sz="1700" dirty="0" err="1"/>
              <a:t>sh_sections</a:t>
            </a:r>
            <a:r>
              <a:rPr lang="en-US" sz="1700" dirty="0"/>
              <a:t> = [list of </a:t>
            </a:r>
            <a:r>
              <a:rPr lang="en-US" sz="1700" dirty="0" err="1"/>
              <a:t>sh</a:t>
            </a:r>
            <a:r>
              <a:rPr lang="en-US" sz="1700" dirty="0"/>
              <a:t> block objects, each object points to a dictionary]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1F56C3A-AA7A-E6FD-FB11-92C2AC855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77" y="2290936"/>
            <a:ext cx="9632453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6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79010-AA73-C3FC-860E-1B58BBA9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2674972" cy="968417"/>
          </a:xfrm>
        </p:spPr>
        <p:txBody>
          <a:bodyPr anchor="b">
            <a:noAutofit/>
          </a:bodyPr>
          <a:lstStyle/>
          <a:p>
            <a:r>
              <a:rPr lang="en-US" sz="3500" dirty="0"/>
              <a:t>Engineering Designs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B2F4-3439-30FB-34AD-C00DE1208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214" y="2247457"/>
            <a:ext cx="4774975" cy="4335347"/>
          </a:xfrm>
        </p:spPr>
        <p:txBody>
          <a:bodyPr anchor="t">
            <a:normAutofit/>
          </a:bodyPr>
          <a:lstStyle/>
          <a:p>
            <a:r>
              <a:rPr lang="en-US" sz="2000" dirty="0"/>
              <a:t>No lunch block used</a:t>
            </a:r>
          </a:p>
          <a:p>
            <a:r>
              <a:rPr lang="en-US" sz="2000" dirty="0"/>
              <a:t>Heat-map: Sections with lower demand are chosen first to spread load</a:t>
            </a:r>
          </a:p>
          <a:p>
            <a:r>
              <a:rPr lang="en-US" sz="2000" dirty="0"/>
              <a:t>Next preference: 2</a:t>
            </a:r>
            <a:r>
              <a:rPr lang="en-US" sz="2000" baseline="30000" dirty="0"/>
              <a:t>nd</a:t>
            </a:r>
            <a:r>
              <a:rPr lang="en-US" sz="2000" dirty="0"/>
              <a:t>/4</a:t>
            </a:r>
            <a:r>
              <a:rPr lang="en-US" sz="2000" baseline="30000" dirty="0"/>
              <a:t>th</a:t>
            </a:r>
            <a:r>
              <a:rPr lang="en-US" sz="2000" dirty="0"/>
              <a:t> block (weighted same) favored over block 1</a:t>
            </a:r>
          </a:p>
          <a:p>
            <a:r>
              <a:rPr lang="en-US" sz="2000" dirty="0"/>
              <a:t>Place students with fewer availabilities first; 9</a:t>
            </a:r>
            <a:r>
              <a:rPr lang="en-US" sz="2000" baseline="30000" dirty="0"/>
              <a:t>th</a:t>
            </a:r>
            <a:r>
              <a:rPr lang="en-US" sz="2000" dirty="0"/>
              <a:t> graders first, then 10th</a:t>
            </a:r>
          </a:p>
          <a:p>
            <a:r>
              <a:rPr lang="en-US" sz="2000" dirty="0" err="1"/>
              <a:t>student.availability</a:t>
            </a:r>
            <a:r>
              <a:rPr lang="en-US" sz="2000" dirty="0"/>
              <a:t> inherits the sorted order of </a:t>
            </a:r>
            <a:r>
              <a:rPr lang="en-US" sz="2000" dirty="0" err="1"/>
              <a:t>sh</a:t>
            </a:r>
            <a:r>
              <a:rPr lang="en-US" sz="2000" dirty="0"/>
              <a:t> sections </a:t>
            </a:r>
            <a:r>
              <a:rPr lang="en-US" sz="2000" dirty="0">
                <a:sym typeface="Wingdings" pitchFamily="2" charset="2"/>
              </a:rPr>
              <a:t>encoding the “fill low-demand first” preference into each availability list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914BD-F839-0A1B-0558-F67B7457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652" y="1555278"/>
            <a:ext cx="6764134" cy="33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8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2217-57EF-8F40-7CF3-7682F9FC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Loop and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F9AB-2275-77C7-D14F-5F099921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First/second </a:t>
            </a:r>
            <a:r>
              <a:rPr lang="en-US" dirty="0" err="1"/>
              <a:t>sh</a:t>
            </a:r>
            <a:r>
              <a:rPr lang="en-US" dirty="0"/>
              <a:t> assignment:</a:t>
            </a:r>
          </a:p>
          <a:p>
            <a:pPr marL="457200" lvl="1" indent="0">
              <a:buNone/>
            </a:pPr>
            <a:r>
              <a:rPr lang="en-US" dirty="0"/>
              <a:t>for s in 9</a:t>
            </a:r>
            <a:r>
              <a:rPr lang="en-US" baseline="30000" dirty="0"/>
              <a:t>th</a:t>
            </a:r>
            <a:r>
              <a:rPr lang="en-US" dirty="0"/>
              <a:t>-graders:</a:t>
            </a:r>
          </a:p>
          <a:p>
            <a:pPr marL="457200" lvl="1" indent="0">
              <a:buNone/>
            </a:pPr>
            <a:r>
              <a:rPr lang="en-US" dirty="0"/>
              <a:t>	if s needs </a:t>
            </a:r>
            <a:r>
              <a:rPr lang="en-US" dirty="0" err="1"/>
              <a:t>sh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		candidates = get valid candidates(s, _</a:t>
            </a:r>
            <a:r>
              <a:rPr lang="en-US" dirty="0" err="1"/>
              <a:t>sh_sections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	best = pick best section</a:t>
            </a:r>
          </a:p>
          <a:p>
            <a:pPr marL="457200" lvl="1" indent="0">
              <a:buNone/>
            </a:pPr>
            <a:r>
              <a:rPr lang="en-US" dirty="0"/>
              <a:t>		update internal variables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9173C-9107-9660-C4D1-5D19314D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421" y="3709084"/>
            <a:ext cx="6064579" cy="314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32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971F-C134-C971-EDCC-CEF85A59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- Capacity-based rescue and swap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F485-7E00-BD9D-32A1-92481916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9</a:t>
            </a:r>
            <a:r>
              <a:rPr lang="en-US" baseline="30000" dirty="0"/>
              <a:t>th</a:t>
            </a:r>
            <a:r>
              <a:rPr lang="en-US" dirty="0"/>
              <a:t> graders that still need 2</a:t>
            </a:r>
            <a:r>
              <a:rPr lang="en-US" baseline="30000" dirty="0"/>
              <a:t>nd</a:t>
            </a:r>
            <a:r>
              <a:rPr lang="en-US" dirty="0"/>
              <a:t> SH after second round placement</a:t>
            </a:r>
          </a:p>
          <a:p>
            <a:r>
              <a:rPr lang="en-US" dirty="0"/>
              <a:t>Need this potentially because during 2nd round placement, all availabilities at max </a:t>
            </a:r>
          </a:p>
          <a:p>
            <a:pPr marL="0" indent="0">
              <a:buNone/>
            </a:pPr>
            <a:r>
              <a:rPr lang="en-US" dirty="0"/>
              <a:t>for s in targets:</a:t>
            </a:r>
          </a:p>
          <a:p>
            <a:pPr marL="0" indent="0">
              <a:buNone/>
            </a:pPr>
            <a:r>
              <a:rPr lang="en-US" dirty="0"/>
              <a:t>	for alt in </a:t>
            </a:r>
            <a:r>
              <a:rPr lang="en-US" dirty="0" err="1"/>
              <a:t>s.alternatives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check conditions, check if any donor can be moved out (another loop)</a:t>
            </a:r>
          </a:p>
          <a:p>
            <a:pPr marL="0" indent="0">
              <a:buNone/>
            </a:pPr>
            <a:r>
              <a:rPr lang="en-US" dirty="0"/>
              <a:t>		if ok:</a:t>
            </a:r>
          </a:p>
          <a:p>
            <a:pPr marL="0" indent="0">
              <a:buNone/>
            </a:pPr>
            <a:r>
              <a:rPr lang="en-US" dirty="0"/>
              <a:t>			bump donor to free up spot to move s 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2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9F30-A7A3-4989-82D6-642A1707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 10</a:t>
            </a:r>
            <a:r>
              <a:rPr lang="en-US" baseline="30000" dirty="0"/>
              <a:t>th</a:t>
            </a:r>
            <a:r>
              <a:rPr lang="en-US" dirty="0"/>
              <a:t> graders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050E-29BA-3BD8-F99C-59E7780AF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logic as 1</a:t>
            </a:r>
            <a:r>
              <a:rPr lang="en-US" baseline="30000" dirty="0"/>
              <a:t>st</a:t>
            </a:r>
            <a:r>
              <a:rPr lang="en-US" dirty="0"/>
              <a:t>/2</a:t>
            </a:r>
            <a:r>
              <a:rPr lang="en-US" baseline="30000" dirty="0"/>
              <a:t>nd</a:t>
            </a:r>
            <a:r>
              <a:rPr lang="en-US" dirty="0"/>
              <a:t> round placement of 9</a:t>
            </a:r>
            <a:r>
              <a:rPr lang="en-US" baseline="30000" dirty="0"/>
              <a:t>th</a:t>
            </a:r>
            <a:r>
              <a:rPr lang="en-US" dirty="0"/>
              <a:t> graders</a:t>
            </a:r>
          </a:p>
        </p:txBody>
      </p:sp>
    </p:spTree>
    <p:extLst>
      <p:ext uri="{BB962C8B-B14F-4D97-AF65-F5344CB8AC3E}">
        <p14:creationId xmlns:p14="http://schemas.microsoft.com/office/powerpoint/2010/main" val="122233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A9D0-D84A-39DB-4E5D-806FE00D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step: Underfilled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2BB0-8D52-4855-E841-78E2407CC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 = list of underfilled sections (below min requirement)</a:t>
            </a:r>
          </a:p>
          <a:p>
            <a:r>
              <a:rPr lang="en-US" dirty="0"/>
              <a:t>Finds donor sections with ppl &gt; 25 (adjustable)</a:t>
            </a:r>
          </a:p>
          <a:p>
            <a:r>
              <a:rPr lang="en-US" dirty="0"/>
              <a:t>For student in each donor section: check whether they can be moved to und; if not, skip</a:t>
            </a:r>
          </a:p>
          <a:p>
            <a:r>
              <a:rPr lang="en-US" dirty="0"/>
              <a:t>If not, break the while loop and just append a note saying underfilled effort failed.</a:t>
            </a:r>
          </a:p>
        </p:txBody>
      </p:sp>
    </p:spTree>
    <p:extLst>
      <p:ext uri="{BB962C8B-B14F-4D97-AF65-F5344CB8AC3E}">
        <p14:creationId xmlns:p14="http://schemas.microsoft.com/office/powerpoint/2010/main" val="85988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A3C59-B84D-1EEA-919E-970C6A61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1FDB-7737-BDF5-4317-4192AA25F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s = number of students, b = number of sections, a = average availability per student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Demand computation: O(s*b)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Building student availability: O(s*b)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Placement rounds: O(s*a)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Rescue &amp; min enforcement: I’m not sure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46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481</Words>
  <Application>Microsoft Macintosh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Study Hall Assignment</vt:lpstr>
      <vt:lpstr>What Success Means</vt:lpstr>
      <vt:lpstr>Data model and structures</vt:lpstr>
      <vt:lpstr>Variables</vt:lpstr>
      <vt:lpstr>Engineering Designs</vt:lpstr>
      <vt:lpstr>Core Loop and Action</vt:lpstr>
      <vt:lpstr>Next - Capacity-based rescue and swap</vt:lpstr>
      <vt:lpstr>Assign 10th graders</vt:lpstr>
      <vt:lpstr>Last step: Underfilled Balancing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Li</dc:creator>
  <cp:lastModifiedBy>Matthew Li</cp:lastModifiedBy>
  <cp:revision>4</cp:revision>
  <dcterms:created xsi:type="dcterms:W3CDTF">2026-01-22T03:46:15Z</dcterms:created>
  <dcterms:modified xsi:type="dcterms:W3CDTF">2026-01-23T16:12:25Z</dcterms:modified>
</cp:coreProperties>
</file>